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4E5CD4-574B-422F-9A0C-05348164FFB5}">
  <a:tblStyle styleId="{0B4E5CD4-574B-422F-9A0C-05348164FF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71045a5f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71045a5f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71045a5f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71045a5f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71045a5f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71045a5f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707e0030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707e0030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707e0030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707e0030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707e0030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707e003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71045a5f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71045a5f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71045a5f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71045a5f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71045a5f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71045a5f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71045a5f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71045a5f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71045a5f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71045a5f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707e0030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707e0030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707e003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707e003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707e0030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707e0030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71045a5f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71045a5f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71045a5f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71045a5f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71045a5f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71045a5f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71045a5f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71045a5f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71045a5f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71045a5f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71045a5f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71045a5f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71045a5f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71045a5f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71045a5f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71045a5f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71045a5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71045a5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71045a5f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71045a5f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71045a5f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71045a5f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71045a5f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71045a5f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71045a5f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71045a5f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71045a5f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71045a5f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71045a5f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71045a5f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KamranAzeem/Simple-AI-Workflo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agents.md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agents.md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://agents.m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ai-policy-cloud.m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agents.md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agents.md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hyperlink" Target="http://agents.m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KamranAzeem/Simple-AI-Workflow" TargetMode="External"/><Relationship Id="rId4" Type="http://schemas.openxmlformats.org/officeDocument/2006/relationships/hyperlink" Target="http://ai-policy-frontend-web.md" TargetMode="External"/><Relationship Id="rId5" Type="http://schemas.openxmlformats.org/officeDocument/2006/relationships/hyperlink" Target="http://agents.m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16159"/>
            <a:ext cx="8520600" cy="122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AI Workflow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24900"/>
            <a:ext cx="8520600" cy="19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AI integration to make your life easier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Kamran Azeem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Link: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https://github.com/KamranAzeem/Simple-AI-Workflow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License: MIT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553861 (Provided by Getty Images)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480" y="3184857"/>
            <a:ext cx="1753426" cy="17431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/>
              <a:t>Simple</a:t>
            </a:r>
            <a:r>
              <a:rPr lang="en"/>
              <a:t> AI Workflow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297676" y="3861625"/>
            <a:ext cx="46020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Advanced / Cool / Slick / Smart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File:Green-check-mark.png - Wikimedia Commons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1490" y="1125921"/>
            <a:ext cx="904275" cy="7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title"/>
          </p:nvPr>
        </p:nvSpPr>
        <p:spPr>
          <a:xfrm>
            <a:off x="535775" y="393400"/>
            <a:ext cx="78678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AI in a nutshell </a:t>
            </a:r>
            <a:endParaRPr/>
          </a:p>
        </p:txBody>
      </p:sp>
      <p:pic>
        <p:nvPicPr>
          <p:cNvPr descr="File:Dall-e 3 (jan '24) artificial intelligence icon.png - Wikipedia"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800" y="1540113"/>
            <a:ext cx="1544724" cy="15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file-cabinets-file-folders-organization-business-database-electronic-product-3c9c6582b8d9f5269b07030f54745bb3.png"/>
          <p:cNvPicPr preferRelativeResize="0"/>
          <p:nvPr/>
        </p:nvPicPr>
        <p:blipFill rotWithShape="1">
          <a:blip r:embed="rId4">
            <a:alphaModFix/>
          </a:blip>
          <a:srcRect b="10168" l="5217" r="7248" t="5173"/>
          <a:stretch/>
        </p:blipFill>
        <p:spPr>
          <a:xfrm>
            <a:off x="1062662" y="1565489"/>
            <a:ext cx="1544699" cy="149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Images : work, tool, repair, hammer, tools, wrench ..." id="71" name="Google Shape;71;p15"/>
          <p:cNvPicPr preferRelativeResize="0"/>
          <p:nvPr/>
        </p:nvPicPr>
        <p:blipFill rotWithShape="1">
          <a:blip r:embed="rId5">
            <a:alphaModFix/>
          </a:blip>
          <a:srcRect b="4563" l="10211" r="10881" t="6831"/>
          <a:stretch/>
        </p:blipFill>
        <p:spPr>
          <a:xfrm>
            <a:off x="6460088" y="1565488"/>
            <a:ext cx="1697802" cy="14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352163" y="1012619"/>
            <a:ext cx="965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Memory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944788" y="1012606"/>
            <a:ext cx="965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Brain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826138" y="1012619"/>
            <a:ext cx="965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Tools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290813" y="3253850"/>
            <a:ext cx="1905000" cy="15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AI Chatbots / Assitants / Agents: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Chat GPT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Claude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DeepSeek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Gemini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GitHub Copilot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. . .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912663" y="3253825"/>
            <a:ext cx="1844700" cy="15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ai/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|-- README.md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|-- ai-policy-override.md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|-- context.md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|-- daily-checkpoints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   |-- 2026-02-26.md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   |-- . . . 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   |-- 2026-04-08.md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   `-- 2026-04-09.md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|-- next-steps.md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`-- progress.md</a:t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386638" y="3253825"/>
            <a:ext cx="1844700" cy="15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All tools available in your OS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Perl, python, sed, grep, cut, diff, git, jq, az, gcloud, kubectl, docker, . . . . 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910488" y="3690917"/>
            <a:ext cx="1163100" cy="1038900"/>
          </a:xfrm>
          <a:prstGeom prst="wedgeRectCallout">
            <a:avLst>
              <a:gd fmla="val -86482" name="adj1"/>
              <a:gd fmla="val -3415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LLMs: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GPT-5.4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GPT-5.4-mini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GPT-5.4-nano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GPT-5.3-codex</a:t>
            </a:r>
            <a:endParaRPr sz="1000"/>
          </a:p>
        </p:txBody>
      </p:sp>
      <p:cxnSp>
        <p:nvCxnSpPr>
          <p:cNvPr id="79" name="Google Shape;79;p15"/>
          <p:cNvCxnSpPr/>
          <p:nvPr/>
        </p:nvCxnSpPr>
        <p:spPr>
          <a:xfrm>
            <a:off x="5466900" y="2133000"/>
            <a:ext cx="78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" name="Google Shape;80;p15"/>
          <p:cNvCxnSpPr/>
          <p:nvPr/>
        </p:nvCxnSpPr>
        <p:spPr>
          <a:xfrm>
            <a:off x="2679238" y="2133000"/>
            <a:ext cx="78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175" y="1082200"/>
            <a:ext cx="4446161" cy="39088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6"/>
          <p:cNvSpPr txBox="1"/>
          <p:nvPr>
            <p:ph idx="4294967295" type="title"/>
          </p:nvPr>
        </p:nvSpPr>
        <p:spPr>
          <a:xfrm>
            <a:off x="535775" y="393400"/>
            <a:ext cx="7867800" cy="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Basic web based usage: (Good place to start!)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1762975" y="2523750"/>
            <a:ext cx="409800" cy="1726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51125" y="3196750"/>
            <a:ext cx="863100" cy="870600"/>
          </a:xfrm>
          <a:prstGeom prst="wedgeRoundRectCallout">
            <a:avLst>
              <a:gd fmla="val 94085" name="adj1"/>
              <a:gd fmla="val -26473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Memories (individual contexts)</a:t>
            </a:r>
            <a:endParaRPr sz="1000"/>
          </a:p>
        </p:txBody>
      </p:sp>
      <p:sp>
        <p:nvSpPr>
          <p:cNvPr id="89" name="Google Shape;89;p16"/>
          <p:cNvSpPr/>
          <p:nvPr/>
        </p:nvSpPr>
        <p:spPr>
          <a:xfrm>
            <a:off x="7328600" y="1156575"/>
            <a:ext cx="863100" cy="870600"/>
          </a:xfrm>
          <a:prstGeom prst="wedgeRoundRectCallout">
            <a:avLst>
              <a:gd fmla="val -131222" name="adj1"/>
              <a:gd fmla="val 54103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Current context</a:t>
            </a:r>
            <a:endParaRPr sz="1000"/>
          </a:p>
        </p:txBody>
      </p:sp>
      <p:sp>
        <p:nvSpPr>
          <p:cNvPr id="90" name="Google Shape;90;p16"/>
          <p:cNvSpPr/>
          <p:nvPr/>
        </p:nvSpPr>
        <p:spPr>
          <a:xfrm>
            <a:off x="7181100" y="2618375"/>
            <a:ext cx="1077600" cy="644100"/>
          </a:xfrm>
          <a:prstGeom prst="wedgeRoundRectCallout">
            <a:avLst>
              <a:gd fmla="val -115623" name="adj1"/>
              <a:gd fmla="val 7336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Copy / Paste code</a:t>
            </a:r>
            <a:endParaRPr sz="1000"/>
          </a:p>
        </p:txBody>
      </p:sp>
      <p:sp>
        <p:nvSpPr>
          <p:cNvPr id="91" name="Google Shape;91;p16"/>
          <p:cNvSpPr/>
          <p:nvPr/>
        </p:nvSpPr>
        <p:spPr>
          <a:xfrm>
            <a:off x="7143275" y="3655900"/>
            <a:ext cx="691200" cy="798900"/>
          </a:xfrm>
          <a:prstGeom prst="wedgeRoundRectCallout">
            <a:avLst>
              <a:gd fmla="val -162627" name="adj1"/>
              <a:gd fmla="val 75485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LLM model being used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4294967295" type="title"/>
          </p:nvPr>
        </p:nvSpPr>
        <p:spPr>
          <a:xfrm>
            <a:off x="535775" y="39340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Personal AI Proficiency model / Where am I now?</a:t>
            </a:r>
            <a:endParaRPr/>
          </a:p>
        </p:txBody>
      </p:sp>
      <p:graphicFrame>
        <p:nvGraphicFramePr>
          <p:cNvPr id="97" name="Google Shape;97;p17"/>
          <p:cNvGraphicFramePr/>
          <p:nvPr/>
        </p:nvGraphicFramePr>
        <p:xfrm>
          <a:off x="1058350" y="178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{0B4E5CD4-574B-422F-9A0C-05348164FFB5}</a:tableStyleId>
              </a:tblPr>
              <a:tblGrid>
                <a:gridCol w="1252025"/>
                <a:gridCol w="5596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using 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Browser based interaction with AI assistants (Chat GPT, Gemini, etc)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AI chat assistant in editor (VS/Code, etc)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 based interaction with AI assistants (copilot, claude, gemini, etc)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Ability to create or use MCPs, Skills, etc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Ability to create AI Agents for doing tasks on your behalf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AI assistants working together on a project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8" name="Google Shape;98;p17"/>
          <p:cNvCxnSpPr/>
          <p:nvPr/>
        </p:nvCxnSpPr>
        <p:spPr>
          <a:xfrm>
            <a:off x="637504" y="2777806"/>
            <a:ext cx="355200" cy="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/>
          <p:nvPr/>
        </p:nvSpPr>
        <p:spPr>
          <a:xfrm>
            <a:off x="7999925" y="1591838"/>
            <a:ext cx="1110900" cy="611400"/>
          </a:xfrm>
          <a:prstGeom prst="wedgeRoundRectCallout">
            <a:avLst>
              <a:gd fmla="val -64261" name="adj1"/>
              <a:gd fmla="val 74225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Copy / paste hell</a:t>
            </a:r>
            <a:endParaRPr sz="1200"/>
          </a:p>
        </p:txBody>
      </p:sp>
      <p:sp>
        <p:nvSpPr>
          <p:cNvPr id="100" name="Google Shape;100;p17"/>
          <p:cNvSpPr/>
          <p:nvPr/>
        </p:nvSpPr>
        <p:spPr>
          <a:xfrm>
            <a:off x="7999925" y="2633675"/>
            <a:ext cx="1110900" cy="695700"/>
          </a:xfrm>
          <a:prstGeom prst="wedgeRoundRectCallout">
            <a:avLst>
              <a:gd fmla="val -80412" name="adj1"/>
              <a:gd fmla="val -3204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Gets 100% work done!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983625" y="1161400"/>
            <a:ext cx="7158600" cy="38112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535775" y="39340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Single Project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1384350" y="1393450"/>
            <a:ext cx="6084000" cy="66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Assistant (Claude / DeepSeek / Gemini / GH Copilot / … )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AGENTS.md</a:t>
            </a:r>
            <a:r>
              <a:rPr b="1" lang="en"/>
              <a:t> + ai/</a:t>
            </a:r>
            <a:endParaRPr b="1"/>
          </a:p>
        </p:txBody>
      </p:sp>
      <p:sp>
        <p:nvSpPr>
          <p:cNvPr id="108" name="Google Shape;108;p18"/>
          <p:cNvSpPr/>
          <p:nvPr/>
        </p:nvSpPr>
        <p:spPr>
          <a:xfrm>
            <a:off x="2679317" y="2723000"/>
            <a:ext cx="32241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static-website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.git</a:t>
            </a:r>
            <a:endParaRPr b="1"/>
          </a:p>
        </p:txBody>
      </p:sp>
      <p:sp>
        <p:nvSpPr>
          <p:cNvPr id="109" name="Google Shape;109;p18"/>
          <p:cNvSpPr/>
          <p:nvPr/>
        </p:nvSpPr>
        <p:spPr>
          <a:xfrm>
            <a:off x="2679317" y="3606650"/>
            <a:ext cx="32241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index.html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css/style.css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1648050" y="2478725"/>
            <a:ext cx="415500" cy="89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Fil:User icon 2.svg – Wikipedia"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292" y="3306051"/>
            <a:ext cx="578099" cy="57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8"/>
          <p:cNvCxnSpPr>
            <a:endCxn id="111" idx="0"/>
          </p:cNvCxnSpPr>
          <p:nvPr/>
        </p:nvCxnSpPr>
        <p:spPr>
          <a:xfrm>
            <a:off x="7290042" y="2169951"/>
            <a:ext cx="3300" cy="11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13" name="Google Shape;113;p18"/>
          <p:cNvCxnSpPr/>
          <p:nvPr/>
        </p:nvCxnSpPr>
        <p:spPr>
          <a:xfrm rot="10800000">
            <a:off x="6524315" y="3588200"/>
            <a:ext cx="507300" cy="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" name="Google Shape;114;p18"/>
          <p:cNvSpPr/>
          <p:nvPr/>
        </p:nvSpPr>
        <p:spPr>
          <a:xfrm>
            <a:off x="2090200" y="2880349"/>
            <a:ext cx="434400" cy="1443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 rot="10800000">
            <a:off x="6062530" y="2880349"/>
            <a:ext cx="434400" cy="1443300"/>
          </a:xfrm>
          <a:prstGeom prst="leftBrace">
            <a:avLst>
              <a:gd fmla="val 50000" name="adj1"/>
              <a:gd fmla="val 50949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635575" y="848650"/>
            <a:ext cx="1236000" cy="768000"/>
          </a:xfrm>
          <a:prstGeom prst="wedgeRoundRectCallout">
            <a:avLst>
              <a:gd fmla="val -76351" name="adj1"/>
              <a:gd fmla="val 5408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 of band management layer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2582377" y="1480150"/>
            <a:ext cx="5821200" cy="339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tree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AGENTS.md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ai/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|-(ai context + state)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.git/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|-- (git internal stuff)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 index.html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css/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`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 style.css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19"/>
          <p:cNvSpPr txBox="1"/>
          <p:nvPr>
            <p:ph idx="4294967295" type="title"/>
          </p:nvPr>
        </p:nvSpPr>
        <p:spPr>
          <a:xfrm>
            <a:off x="535775" y="39340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Single Project (focussed - directory view)</a:t>
            </a:r>
            <a:endParaRPr/>
          </a:p>
        </p:txBody>
      </p:sp>
      <p:pic>
        <p:nvPicPr>
          <p:cNvPr descr="Fil:User icon 2.svg – Wikipedia"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2552" y="2698276"/>
            <a:ext cx="578099" cy="57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 rot="10800000">
            <a:off x="4332452" y="2167600"/>
            <a:ext cx="2477400" cy="58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9"/>
          <p:cNvCxnSpPr/>
          <p:nvPr/>
        </p:nvCxnSpPr>
        <p:spPr>
          <a:xfrm rot="10800000">
            <a:off x="4329377" y="2969075"/>
            <a:ext cx="2498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/>
          <p:nvPr/>
        </p:nvCxnSpPr>
        <p:spPr>
          <a:xfrm flipH="1">
            <a:off x="4597027" y="3178550"/>
            <a:ext cx="22857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/>
          <p:nvPr/>
        </p:nvSpPr>
        <p:spPr>
          <a:xfrm>
            <a:off x="335500" y="1196900"/>
            <a:ext cx="1684800" cy="118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AGENTS.md</a:t>
            </a:r>
            <a:r>
              <a:rPr lang="en" sz="1000"/>
              <a:t> reads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</a:t>
            </a:r>
            <a:r>
              <a:rPr lang="en" sz="1000"/>
              <a:t>entral AI policy files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~/Simple-AI-Workflow/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(ai-policy-web.md)</a:t>
            </a:r>
            <a:endParaRPr b="1" sz="1000"/>
          </a:p>
        </p:txBody>
      </p:sp>
      <p:cxnSp>
        <p:nvCxnSpPr>
          <p:cNvPr id="128" name="Google Shape;128;p19"/>
          <p:cNvCxnSpPr>
            <a:stCxn id="127" idx="3"/>
          </p:cNvCxnSpPr>
          <p:nvPr/>
        </p:nvCxnSpPr>
        <p:spPr>
          <a:xfrm>
            <a:off x="2020300" y="1787600"/>
            <a:ext cx="823800" cy="35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535775" y="986400"/>
            <a:ext cx="7989000" cy="389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cat AGENTS.md</a:t>
            </a:r>
            <a:endParaRPr b="1"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AI Bootstrap Entry Point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**IMPORTANT**: Update the central policy path below when using this file in your project.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is the single startup entry point for all AI assistants in this repository.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 in this order: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[central main policy file](</a:t>
            </a:r>
            <a:r>
              <a:rPr lang="en" sz="8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/home/username/Projects/Personal/Simple-AI-Workflow/ai/ai-policy-cloud.md</a:t>
            </a: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 operating rules and guardrails. If unreachable, then read the local policy file mentioned in the next point.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[local main policy file](ai/ai-policy-cloud.md) - fallback if step 1 is unreachable; skip if step 1 succeeded.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[local policy override file](ai/ai-policy-override.md) - rules to override the main policy. **(optional; skip if not present)**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[ai/next-steps.md](ai/next-steps.md) - current resume point and live queue. **(optional; skip if not present)**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Latest file in [ai/daily-checkpoints/](ai/daily-checkpoints/) - daily recovery snapshot. **(optional; skip if not present)**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[ai/progress.md](ai/progress.md) - chronological execution history. **(optional; skip if not present)**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7. [ai/context.md](ai/context.md) - repository briefing and decisions. **(optional; skip if not present)**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After reading all accessible files above, acknowledge readiness and await the first user instruction.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cat AGENTS.md | wc -l</a:t>
            </a:r>
            <a:endParaRPr b="1"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57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0"/>
          <p:cNvSpPr txBox="1"/>
          <p:nvPr>
            <p:ph idx="4294967295" type="title"/>
          </p:nvPr>
        </p:nvSpPr>
        <p:spPr>
          <a:xfrm>
            <a:off x="535775" y="393400"/>
            <a:ext cx="78678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Anatomy of the “AGENTS.md”</a:t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681600" y="1058400"/>
            <a:ext cx="1382400" cy="914400"/>
          </a:xfrm>
          <a:prstGeom prst="wedgeRoundRectCallout">
            <a:avLst>
              <a:gd fmla="val -45628" name="adj1"/>
              <a:gd fmla="val 87795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Location of the policy file that you want to use with this project</a:t>
            </a:r>
            <a:endParaRPr sz="1200"/>
          </a:p>
        </p:txBody>
      </p:sp>
      <p:sp>
        <p:nvSpPr>
          <p:cNvPr id="136" name="Google Shape;136;p20"/>
          <p:cNvSpPr/>
          <p:nvPr/>
        </p:nvSpPr>
        <p:spPr>
          <a:xfrm>
            <a:off x="1844400" y="4536000"/>
            <a:ext cx="2482800" cy="263100"/>
          </a:xfrm>
          <a:prstGeom prst="wedgeRoundRectCallout">
            <a:avLst>
              <a:gd fmla="val -83398" name="adj1"/>
              <a:gd fmla="val -7462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Notice very small size !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362975" y="951600"/>
            <a:ext cx="3078600" cy="389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wc -l ai-policy-*.md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311 ai-policy-backend-api.md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319 ai-policy-cloud.md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308 ai-policy-frontend-web.md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285 ai-policy-linux-system-admin.md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21"/>
          <p:cNvSpPr txBox="1"/>
          <p:nvPr>
            <p:ph idx="4294967295" type="title"/>
          </p:nvPr>
        </p:nvSpPr>
        <p:spPr>
          <a:xfrm>
            <a:off x="535775" y="393400"/>
            <a:ext cx="78678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Policy files used by AGENTS.md</a:t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3585600" y="951600"/>
            <a:ext cx="5126400" cy="389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\# </a:t>
            </a:r>
            <a:r>
              <a:rPr b="1" lang="en" sz="1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ai-policy-cloud.md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🚫 DO NOT MODIFY THIS FILE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AI Assistant Policy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Scope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Role Definition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Core Responsibilities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Project Authority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Decision-Making Framework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Instruction Precedence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Project Reference Files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Operational Restart and Checkpoint Contract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Source-of-Truth Order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Required Tracking Files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Checkpoint ID Contract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Immutable Checkpoint Semantics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Mandatory Checkpoint Procedure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Required Resume Block Schema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Startup Consistency and Recovery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End-of-Day Quality Gate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Copilot Bootstrap Source Guardrails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Operational Guardrails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Security Policy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Security Responsibilities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Security Best Practices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Incident Response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### Security Validation</a:t>
            </a:r>
            <a:endParaRPr b="1"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. . </a:t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848025" y="3525325"/>
            <a:ext cx="1482300" cy="859500"/>
          </a:xfrm>
          <a:prstGeom prst="wedgeRoundRectCallout">
            <a:avLst>
              <a:gd fmla="val -62685" name="adj1"/>
              <a:gd fmla="val -46338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file is very long. These are just (some) headings!</a:t>
            </a:r>
            <a:endParaRPr b="1" sz="1200"/>
          </a:p>
        </p:txBody>
      </p:sp>
      <p:sp>
        <p:nvSpPr>
          <p:cNvPr id="145" name="Google Shape;145;p21"/>
          <p:cNvSpPr/>
          <p:nvPr/>
        </p:nvSpPr>
        <p:spPr>
          <a:xfrm>
            <a:off x="6921275" y="1164925"/>
            <a:ext cx="1301100" cy="859500"/>
          </a:xfrm>
          <a:prstGeom prst="wedgeRoundRectCallout">
            <a:avLst>
              <a:gd fmla="val -65654" name="adj1"/>
              <a:gd fmla="val 31428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Do’s and Don’ts</a:t>
            </a:r>
            <a:endParaRPr b="1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3738175" y="1161400"/>
            <a:ext cx="3884400" cy="371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tree ai/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ai/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README.md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ai-policy-override.md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context.md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daily-checkpoints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|-- 2026-02-26.md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|-- 2026-02-27.md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|-- 2026-03-13.md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|-- 2026-04-07.md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|-- 2026-04-08.md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`-- 2026-04-09.md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next-steps.md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`-- progress.md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2"/>
          <p:cNvSpPr txBox="1"/>
          <p:nvPr>
            <p:ph idx="4294967295" type="title"/>
          </p:nvPr>
        </p:nvSpPr>
        <p:spPr>
          <a:xfrm>
            <a:off x="535775" y="39340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Anatomy of the “ai/” directory</a:t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1030425" y="1833325"/>
            <a:ext cx="1684800" cy="1181400"/>
          </a:xfrm>
          <a:prstGeom prst="wedgeRoundRectCallout">
            <a:avLst>
              <a:gd fmla="val 56437" name="adj1"/>
              <a:gd fmla="val 7840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Memory!</a:t>
            </a:r>
            <a:endParaRPr b="1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idx="4294967295" type="title"/>
          </p:nvPr>
        </p:nvSpPr>
        <p:spPr>
          <a:xfrm>
            <a:off x="535775" y="393400"/>
            <a:ext cx="78678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Example of ai-policy-override.md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39200" y="951600"/>
            <a:ext cx="8272800" cy="389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cat ai/</a:t>
            </a:r>
            <a:r>
              <a:rPr b="1"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ai-policy-override.md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AI Policy Override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## Windows Shell Priority (Local Setup)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terminal execution on this Windows machine: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Use Git Bash first for all commands by default.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Prefer Git Bash-compatible command forms and tools (`bash`, `rg`, `jq`, POSIX pipelines).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Use PowerShell only when the operation is truly Windows-native and no practical Git Bash equivalent is available.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When PowerShell is used, include a brief reason why Git Bash was not suitable.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Avoid unnecessary shell switching during a single task.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4294967295" type="title"/>
          </p:nvPr>
        </p:nvSpPr>
        <p:spPr>
          <a:xfrm>
            <a:off x="535775" y="329650"/>
            <a:ext cx="8023800" cy="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Out-of-Band Management =&gt; Security + Privacy</a:t>
            </a:r>
            <a:endParaRPr/>
          </a:p>
        </p:txBody>
      </p:sp>
      <p:sp>
        <p:nvSpPr>
          <p:cNvPr id="164" name="Google Shape;164;p24"/>
          <p:cNvSpPr txBox="1"/>
          <p:nvPr>
            <p:ph idx="4294967295" type="title"/>
          </p:nvPr>
        </p:nvSpPr>
        <p:spPr>
          <a:xfrm>
            <a:off x="535775" y="970150"/>
            <a:ext cx="8023800" cy="39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The Analogy:</a:t>
            </a:r>
            <a:r>
              <a:rPr lang="en" sz="1400"/>
              <a:t> Just like the </a:t>
            </a:r>
            <a:r>
              <a:rPr b="1" lang="en" sz="1400">
                <a:solidFill>
                  <a:srgbClr val="188038"/>
                </a:solidFill>
              </a:rPr>
              <a:t>.git</a:t>
            </a:r>
            <a:r>
              <a:rPr lang="en" sz="1400"/>
              <a:t> directory tracks your history without being part of your application code, </a:t>
            </a:r>
            <a:r>
              <a:rPr b="1" lang="en" sz="1400"/>
              <a:t>Simple-AI-Workflow</a:t>
            </a:r>
            <a:r>
              <a:rPr lang="en" sz="1400"/>
              <a:t> acts as an </a:t>
            </a:r>
            <a:r>
              <a:rPr lang="en" sz="1400" u="sng"/>
              <a:t>external intelligence layer</a:t>
            </a:r>
            <a:r>
              <a:rPr lang="en" sz="1400"/>
              <a:t> - a dedicated brain and dedicated memory-</a:t>
            </a:r>
            <a:r>
              <a:rPr lang="en" sz="1400"/>
              <a:t>system</a:t>
            </a:r>
            <a:r>
              <a:rPr lang="en" sz="1400"/>
              <a:t> for this project only!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Key Benefit:</a:t>
            </a:r>
            <a:r>
              <a:rPr lang="en" sz="1400"/>
              <a:t> No "AI clutter" or “AI noise” (prompts, logs, agent files, or state) spread all over the place inside your production repository.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Independence:</a:t>
            </a:r>
            <a:r>
              <a:rPr lang="en" sz="1400"/>
              <a:t> The AI manages the project, but its own state exists outside the Git history, contained in a single </a:t>
            </a:r>
            <a:r>
              <a:rPr b="1" i="1" lang="en" sz="1400"/>
              <a:t>git-ignored</a:t>
            </a:r>
            <a:r>
              <a:rPr lang="en" sz="1400"/>
              <a:t> directory (“ai/”).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Privacy:</a:t>
            </a:r>
            <a:r>
              <a:rPr lang="en" sz="1400"/>
              <a:t> Your thoughts, reasoning, decisions, way of working, </a:t>
            </a:r>
            <a:r>
              <a:rPr lang="en" sz="1400"/>
              <a:t>details</a:t>
            </a:r>
            <a:r>
              <a:rPr lang="en" sz="1400"/>
              <a:t> about project/clients/infrastructure that you discuss with AI assistant -</a:t>
            </a:r>
            <a:r>
              <a:rPr b="1" i="1" lang="en" sz="1400" u="sng"/>
              <a:t> all private</a:t>
            </a:r>
            <a:r>
              <a:rPr lang="en" sz="1400"/>
              <a:t>. Nothing in git - ever!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400"/>
              <a:t>Bonus:</a:t>
            </a:r>
            <a:r>
              <a:rPr lang="en" sz="1400"/>
              <a:t> Does not need your directory to be a git repository either! </a:t>
            </a:r>
            <a:r>
              <a:rPr lang="en" sz="1400"/>
              <a:t>Bring in your idea in a empty directory, bring in AI, start brainstorming / building!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983625" y="1161400"/>
            <a:ext cx="7158600" cy="38112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idx="4294967295" type="title"/>
          </p:nvPr>
        </p:nvSpPr>
        <p:spPr>
          <a:xfrm>
            <a:off x="535775" y="39340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Single Project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1384350" y="1393450"/>
            <a:ext cx="6084000" cy="66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Assistant (Claude / DeepSeek / Gemini / GH Copilot / … )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AGENTS.md</a:t>
            </a:r>
            <a:r>
              <a:rPr b="1" lang="en"/>
              <a:t> + ai/</a:t>
            </a:r>
            <a:endParaRPr b="1"/>
          </a:p>
        </p:txBody>
      </p:sp>
      <p:sp>
        <p:nvSpPr>
          <p:cNvPr id="172" name="Google Shape;172;p25"/>
          <p:cNvSpPr/>
          <p:nvPr/>
        </p:nvSpPr>
        <p:spPr>
          <a:xfrm>
            <a:off x="1742323" y="2723000"/>
            <a:ext cx="18936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static-website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Git branch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feature/add-menu-system</a:t>
            </a:r>
            <a:endParaRPr b="1" sz="1000"/>
          </a:p>
        </p:txBody>
      </p:sp>
      <p:sp>
        <p:nvSpPr>
          <p:cNvPr id="173" name="Google Shape;173;p25"/>
          <p:cNvSpPr/>
          <p:nvPr/>
        </p:nvSpPr>
        <p:spPr>
          <a:xfrm>
            <a:off x="1742323" y="3606500"/>
            <a:ext cx="18936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index.html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css/style.css</a:t>
            </a:r>
            <a:endParaRPr sz="1000"/>
          </a:p>
        </p:txBody>
      </p:sp>
      <p:pic>
        <p:nvPicPr>
          <p:cNvPr descr="Fil:User icon 2.svg – Wikipedia" id="174" name="Google Shape;1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292" y="3306051"/>
            <a:ext cx="578099" cy="57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5"/>
          <p:cNvCxnSpPr>
            <a:endCxn id="174" idx="0"/>
          </p:cNvCxnSpPr>
          <p:nvPr/>
        </p:nvCxnSpPr>
        <p:spPr>
          <a:xfrm>
            <a:off x="7290042" y="2169951"/>
            <a:ext cx="3300" cy="11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76" name="Google Shape;176;p25"/>
          <p:cNvCxnSpPr/>
          <p:nvPr/>
        </p:nvCxnSpPr>
        <p:spPr>
          <a:xfrm rot="10800000">
            <a:off x="6564187" y="3581555"/>
            <a:ext cx="507300" cy="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" name="Google Shape;177;p25"/>
          <p:cNvSpPr/>
          <p:nvPr/>
        </p:nvSpPr>
        <p:spPr>
          <a:xfrm rot="5400000">
            <a:off x="3755900" y="1458399"/>
            <a:ext cx="275400" cy="207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/>
          <p:nvPr/>
        </p:nvSpPr>
        <p:spPr>
          <a:xfrm rot="10800000">
            <a:off x="6062530" y="2873704"/>
            <a:ext cx="434400" cy="1443300"/>
          </a:xfrm>
          <a:prstGeom prst="leftBrace">
            <a:avLst>
              <a:gd fmla="val 50000" name="adj1"/>
              <a:gd fmla="val 50949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4020284" y="2708075"/>
            <a:ext cx="18936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static-website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Git branch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feature/add-aboutus-page</a:t>
            </a:r>
            <a:endParaRPr b="1" sz="1000"/>
          </a:p>
        </p:txBody>
      </p:sp>
      <p:sp>
        <p:nvSpPr>
          <p:cNvPr id="180" name="Google Shape;180;p25"/>
          <p:cNvSpPr/>
          <p:nvPr/>
        </p:nvSpPr>
        <p:spPr>
          <a:xfrm>
            <a:off x="4020284" y="3591725"/>
            <a:ext cx="1893600" cy="8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Index.html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aboutus.html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css/style.css</a:t>
            </a:r>
            <a:endParaRPr sz="1000"/>
          </a:p>
        </p:txBody>
      </p:sp>
      <p:pic>
        <p:nvPicPr>
          <p:cNvPr descr="Eye icon vector. Isolated contour symbol illustration (Provided by Getty Images)" id="181" name="Google Shape;181;p25"/>
          <p:cNvPicPr preferRelativeResize="0"/>
          <p:nvPr/>
        </p:nvPicPr>
        <p:blipFill rotWithShape="1">
          <a:blip r:embed="rId5">
            <a:alphaModFix/>
          </a:blip>
          <a:srcRect b="28289" l="18290" r="17513" t="28778"/>
          <a:stretch/>
        </p:blipFill>
        <p:spPr>
          <a:xfrm>
            <a:off x="3725739" y="2088998"/>
            <a:ext cx="354350" cy="2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7635575" y="848650"/>
            <a:ext cx="1236000" cy="768000"/>
          </a:xfrm>
          <a:prstGeom prst="wedgeRoundRectCallout">
            <a:avLst>
              <a:gd fmla="val -76351" name="adj1"/>
              <a:gd fmla="val 5408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 of band management layer</a:t>
            </a:r>
            <a:endParaRPr sz="1200"/>
          </a:p>
        </p:txBody>
      </p:sp>
      <p:sp>
        <p:nvSpPr>
          <p:cNvPr id="183" name="Google Shape;183;p25"/>
          <p:cNvSpPr/>
          <p:nvPr/>
        </p:nvSpPr>
        <p:spPr>
          <a:xfrm>
            <a:off x="194850" y="2208300"/>
            <a:ext cx="1236000" cy="819900"/>
          </a:xfrm>
          <a:prstGeom prst="wedgeRoundRectCallout">
            <a:avLst>
              <a:gd fmla="val 67573" name="adj1"/>
              <a:gd fmla="val -8102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Two git branches for same code base</a:t>
            </a:r>
            <a:endParaRPr sz="1200"/>
          </a:p>
        </p:txBody>
      </p:sp>
      <p:sp>
        <p:nvSpPr>
          <p:cNvPr id="184" name="Google Shape;184;p25"/>
          <p:cNvSpPr/>
          <p:nvPr/>
        </p:nvSpPr>
        <p:spPr>
          <a:xfrm>
            <a:off x="2759325" y="4558700"/>
            <a:ext cx="2287200" cy="380700"/>
          </a:xfrm>
          <a:prstGeom prst="wedgeRoundRectCallout">
            <a:avLst>
              <a:gd fmla="val 37969" name="adj1"/>
              <a:gd fmla="val -8490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Notice different state of files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idx="4294967295" type="title"/>
          </p:nvPr>
        </p:nvSpPr>
        <p:spPr>
          <a:xfrm>
            <a:off x="535775" y="407100"/>
            <a:ext cx="78678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Architect</a:t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1402575" y="1261156"/>
            <a:ext cx="6491400" cy="71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Assistant (Claude / DeepSeek / Gemini / GH Copilot / … )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AGENTS.md</a:t>
            </a:r>
            <a:r>
              <a:rPr lang="en"/>
              <a:t> + ai/</a:t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3480988" y="2119068"/>
            <a:ext cx="2024700" cy="6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static-website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.git +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6"/>
          <p:cNvCxnSpPr/>
          <p:nvPr/>
        </p:nvCxnSpPr>
        <p:spPr>
          <a:xfrm>
            <a:off x="1953725" y="2259431"/>
            <a:ext cx="523800" cy="116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Fil:User icon 2.svg – Wikipedia" id="193" name="Google Shape;1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855" y="3184154"/>
            <a:ext cx="578099" cy="57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6"/>
          <p:cNvCxnSpPr>
            <a:endCxn id="193" idx="0"/>
          </p:cNvCxnSpPr>
          <p:nvPr/>
        </p:nvCxnSpPr>
        <p:spPr>
          <a:xfrm>
            <a:off x="7707705" y="1997654"/>
            <a:ext cx="16200" cy="118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26"/>
          <p:cNvCxnSpPr>
            <a:stCxn id="193" idx="1"/>
          </p:cNvCxnSpPr>
          <p:nvPr/>
        </p:nvCxnSpPr>
        <p:spPr>
          <a:xfrm rot="10800000">
            <a:off x="6398655" y="3472303"/>
            <a:ext cx="1036200" cy="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6"/>
          <p:cNvSpPr/>
          <p:nvPr/>
        </p:nvSpPr>
        <p:spPr>
          <a:xfrm>
            <a:off x="3481000" y="2861876"/>
            <a:ext cx="2024700" cy="6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web-api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.git +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3480988" y="4333693"/>
            <a:ext cx="2024700" cy="61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my-business-idea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3480988" y="3606931"/>
            <a:ext cx="2024700" cy="61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.git +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5847418" y="2283543"/>
            <a:ext cx="364500" cy="2386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2746009" y="2283543"/>
            <a:ext cx="434400" cy="2386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7635575" y="768906"/>
            <a:ext cx="1236000" cy="768000"/>
          </a:xfrm>
          <a:prstGeom prst="wedgeRoundRectCallout">
            <a:avLst>
              <a:gd fmla="val -76351" name="adj1"/>
              <a:gd fmla="val 5408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 of band management layer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2658150" y="1224600"/>
            <a:ext cx="5337900" cy="36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tree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AGENTS.md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ai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`-- (ai context + state)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infrastructure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`-- (stuff)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infrastructure-new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`-- (stuff)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static-website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 `-- (stuff)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`-- web-api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`-- (stuff)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27"/>
          <p:cNvSpPr txBox="1"/>
          <p:nvPr>
            <p:ph idx="4294967295" type="title"/>
          </p:nvPr>
        </p:nvSpPr>
        <p:spPr>
          <a:xfrm>
            <a:off x="535775" y="293200"/>
            <a:ext cx="78678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Architect</a:t>
            </a:r>
            <a:endParaRPr/>
          </a:p>
        </p:txBody>
      </p:sp>
      <p:pic>
        <p:nvPicPr>
          <p:cNvPr descr="Fil:User icon 2.svg – Wikipedia" id="208" name="Google Shape;2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1059" y="1706364"/>
            <a:ext cx="578099" cy="578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7"/>
          <p:cNvCxnSpPr/>
          <p:nvPr/>
        </p:nvCxnSpPr>
        <p:spPr>
          <a:xfrm rot="10800000">
            <a:off x="4905432" y="1925988"/>
            <a:ext cx="1001700" cy="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7"/>
          <p:cNvCxnSpPr/>
          <p:nvPr/>
        </p:nvCxnSpPr>
        <p:spPr>
          <a:xfrm flipH="1">
            <a:off x="5005807" y="2490538"/>
            <a:ext cx="992400" cy="67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7"/>
          <p:cNvSpPr/>
          <p:nvPr/>
        </p:nvSpPr>
        <p:spPr>
          <a:xfrm>
            <a:off x="2032607" y="2536062"/>
            <a:ext cx="434400" cy="2116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ye icon vector. Isolated contour symbol illustration (Provided by Getty Images)" id="212" name="Google Shape;212;p27"/>
          <p:cNvPicPr preferRelativeResize="0"/>
          <p:nvPr/>
        </p:nvPicPr>
        <p:blipFill rotWithShape="1">
          <a:blip r:embed="rId4">
            <a:alphaModFix/>
          </a:blip>
          <a:srcRect b="28289" l="18290" r="17513" t="28778"/>
          <a:stretch/>
        </p:blipFill>
        <p:spPr>
          <a:xfrm>
            <a:off x="1914239" y="1815037"/>
            <a:ext cx="455352" cy="304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>
            <a:stCxn id="212" idx="2"/>
            <a:endCxn id="211" idx="1"/>
          </p:cNvCxnSpPr>
          <p:nvPr/>
        </p:nvCxnSpPr>
        <p:spPr>
          <a:xfrm rot="5400000">
            <a:off x="1349915" y="2802370"/>
            <a:ext cx="1474800" cy="109200"/>
          </a:xfrm>
          <a:prstGeom prst="curvedConnector4">
            <a:avLst>
              <a:gd fmla="val 14120" name="adj1"/>
              <a:gd fmla="val 318163" name="adj2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4" name="Google Shape;214;p27"/>
          <p:cNvSpPr/>
          <p:nvPr/>
        </p:nvSpPr>
        <p:spPr>
          <a:xfrm>
            <a:off x="7336551" y="899350"/>
            <a:ext cx="1329000" cy="1035600"/>
          </a:xfrm>
          <a:prstGeom prst="wedgeRoundRectCallout">
            <a:avLst>
              <a:gd fmla="val -80119" name="adj1"/>
              <a:gd fmla="val 3785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How a change in API </a:t>
            </a:r>
            <a:r>
              <a:rPr lang="en" sz="1000"/>
              <a:t>effects the components of infrastructure , or, vice-versa ?</a:t>
            </a:r>
            <a:endParaRPr sz="1000"/>
          </a:p>
        </p:txBody>
      </p:sp>
      <p:sp>
        <p:nvSpPr>
          <p:cNvPr id="215" name="Google Shape;215;p27"/>
          <p:cNvSpPr/>
          <p:nvPr/>
        </p:nvSpPr>
        <p:spPr>
          <a:xfrm>
            <a:off x="7336550" y="2279500"/>
            <a:ext cx="1561500" cy="1095900"/>
          </a:xfrm>
          <a:prstGeom prst="wedgeRoundRectCallout">
            <a:avLst>
              <a:gd fmla="val -83114" name="adj1"/>
              <a:gd fmla="val -59993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How do I </a:t>
            </a:r>
            <a:r>
              <a:rPr lang="en" sz="1000"/>
              <a:t>redesign</a:t>
            </a:r>
            <a:r>
              <a:rPr lang="en" sz="1000"/>
              <a:t> the </a:t>
            </a:r>
            <a:r>
              <a:rPr lang="en" sz="1000"/>
              <a:t>infrastructure</a:t>
            </a:r>
            <a:r>
              <a:rPr lang="en" sz="1000"/>
              <a:t> based on </a:t>
            </a:r>
            <a:r>
              <a:rPr b="1" lang="en" sz="1000"/>
              <a:t>GKE</a:t>
            </a:r>
            <a:r>
              <a:rPr lang="en" sz="1000"/>
              <a:t>,  instead of </a:t>
            </a:r>
            <a:r>
              <a:rPr b="1" lang="en" sz="1000"/>
              <a:t>Azure ContainerApps</a:t>
            </a:r>
            <a:r>
              <a:rPr lang="en" sz="1000"/>
              <a:t> ?</a:t>
            </a:r>
            <a:endParaRPr sz="1000"/>
          </a:p>
        </p:txBody>
      </p:sp>
      <p:cxnSp>
        <p:nvCxnSpPr>
          <p:cNvPr id="216" name="Google Shape;216;p27"/>
          <p:cNvCxnSpPr>
            <a:stCxn id="217" idx="3"/>
          </p:cNvCxnSpPr>
          <p:nvPr/>
        </p:nvCxnSpPr>
        <p:spPr>
          <a:xfrm>
            <a:off x="1737575" y="1544950"/>
            <a:ext cx="1013700" cy="26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" name="Google Shape;217;p27"/>
          <p:cNvSpPr/>
          <p:nvPr/>
        </p:nvSpPr>
        <p:spPr>
          <a:xfrm>
            <a:off x="96275" y="997000"/>
            <a:ext cx="1641300" cy="109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AGENTS.md</a:t>
            </a:r>
            <a:r>
              <a:rPr lang="en" sz="1000"/>
              <a:t> reads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Central AI policy files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~/Simple-AI-Workflow/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(ai-policy-cloud.md)</a:t>
            </a:r>
            <a:endParaRPr b="1" sz="1000"/>
          </a:p>
        </p:txBody>
      </p:sp>
      <p:sp>
        <p:nvSpPr>
          <p:cNvPr id="218" name="Google Shape;218;p27"/>
          <p:cNvSpPr/>
          <p:nvPr/>
        </p:nvSpPr>
        <p:spPr>
          <a:xfrm>
            <a:off x="6698150" y="3719950"/>
            <a:ext cx="1668300" cy="1095900"/>
          </a:xfrm>
          <a:prstGeom prst="wedgeRoundRectCallout">
            <a:avLst>
              <a:gd fmla="val -40615" name="adj1"/>
              <a:gd fmla="val -115964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Find all PostgreSQL related components and copy them inside the </a:t>
            </a: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“infrastructure-new</a:t>
            </a:r>
            <a:r>
              <a:rPr lang="en" sz="1000"/>
              <a:t>” directory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4294967295" type="title"/>
          </p:nvPr>
        </p:nvSpPr>
        <p:spPr>
          <a:xfrm>
            <a:off x="535775" y="311425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Benefits of Architect-level AI setup</a:t>
            </a:r>
            <a:endParaRPr/>
          </a:p>
        </p:txBody>
      </p:sp>
      <p:sp>
        <p:nvSpPr>
          <p:cNvPr id="224" name="Google Shape;224;p28"/>
          <p:cNvSpPr txBox="1"/>
          <p:nvPr>
            <p:ph idx="4294967295" type="title"/>
          </p:nvPr>
        </p:nvSpPr>
        <p:spPr>
          <a:xfrm>
            <a:off x="535775" y="1079425"/>
            <a:ext cx="8023800" cy="3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Visibility: </a:t>
            </a:r>
            <a:r>
              <a:rPr lang="en" sz="1600"/>
              <a:t>Complete and full overview of everything / all related components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Cleanliness:</a:t>
            </a:r>
            <a:r>
              <a:rPr lang="en" sz="1600"/>
              <a:t> Keeps your production repos lean and professional.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Portability:</a:t>
            </a:r>
            <a:r>
              <a:rPr lang="en" sz="1600"/>
              <a:t> You don’t need to move your AI "brain" from one project to another. Nor do you have several disconnected brains (each project/directory having it’s own AI setup)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Contextual Power:</a:t>
            </a:r>
            <a:r>
              <a:rPr lang="en" sz="1600"/>
              <a:t> Breaks the "silo" of single-repository AI tools. Has context of everything under it’s </a:t>
            </a:r>
            <a:r>
              <a:rPr lang="en" sz="1600"/>
              <a:t>umbrella.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use this Workflow? (1 / 2)</a:t>
            </a:r>
            <a:endParaRPr/>
          </a:p>
        </p:txBody>
      </p:sp>
      <p:sp>
        <p:nvSpPr>
          <p:cNvPr id="230" name="Google Shape;230;p29"/>
          <p:cNvSpPr txBox="1"/>
          <p:nvPr>
            <p:ph idx="4294967295" type="title"/>
          </p:nvPr>
        </p:nvSpPr>
        <p:spPr>
          <a:xfrm>
            <a:off x="535775" y="1138450"/>
            <a:ext cx="8023800" cy="36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Follow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https://github.com/KamranAzeem/Simple-AI-Workflow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500"/>
              <a:buChar char="●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Clone this repository at a central location in your home directory 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○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E.g.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~/Projects/Personal/Simple-AI-Workflow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 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●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Copy </a:t>
            </a:r>
            <a:r>
              <a:rPr lang="en" sz="1500">
                <a:solidFill>
                  <a:srgbClr val="010409"/>
                </a:solidFill>
                <a:highlight>
                  <a:srgbClr val="E0E6EB"/>
                </a:highlight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 from this directory into the root of the target project on your local computer. (e.g. inside 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~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/Projects/Personal/static-website/</a:t>
            </a:r>
            <a:endParaRPr sz="1300">
              <a:solidFill>
                <a:srgbClr val="01040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500"/>
              <a:buChar char="●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Update the absolute path for the appropriate policy file that you want to use in the </a:t>
            </a:r>
            <a:r>
              <a:rPr lang="en" sz="1500">
                <a:solidFill>
                  <a:srgbClr val="010409"/>
                </a:solidFill>
                <a:highlight>
                  <a:srgbClr val="E0E6EB"/>
                </a:highlight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 file: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○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E.g. </a:t>
            </a:r>
            <a:r>
              <a:rPr lang="en" sz="1100">
                <a:solidFill>
                  <a:srgbClr val="010409"/>
                </a:solidFill>
                <a:highlight>
                  <a:srgbClr val="E0E6EB"/>
                </a:highlight>
                <a:latin typeface="Consolas"/>
                <a:ea typeface="Consolas"/>
                <a:cs typeface="Consolas"/>
                <a:sym typeface="Consolas"/>
              </a:rPr>
              <a:t>/home/username/Projects/Personal/Simple-AI-Workflow/ai/</a:t>
            </a:r>
            <a:r>
              <a:rPr lang="en" sz="1100" u="sng">
                <a:solidFill>
                  <a:schemeClr val="hlink"/>
                </a:solidFill>
                <a:highlight>
                  <a:srgbClr val="E0E6EB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ai-policy-frontend-web.md</a:t>
            </a:r>
            <a:endParaRPr sz="11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500"/>
              <a:buChar char="○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Make sure to follow the OS specific way of writing the path.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500"/>
              <a:buChar char="●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When an AI assistant reads </a:t>
            </a:r>
            <a:r>
              <a:rPr lang="en" sz="1500">
                <a:solidFill>
                  <a:srgbClr val="010409"/>
                </a:solidFill>
                <a:highlight>
                  <a:srgbClr val="E0E6EB"/>
                </a:highlight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, it will access the central policy directly from that path.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●"/>
            </a:pP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Write 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“/init using AGENTS.md”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 or  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“bootstrap using </a:t>
            </a:r>
            <a:r>
              <a:rPr lang="en" sz="1300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AGENTS.md</a:t>
            </a:r>
            <a:r>
              <a:rPr lang="en" sz="13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protocol”</a:t>
            </a:r>
            <a:r>
              <a:rPr lang="en" sz="1500">
                <a:solidFill>
                  <a:srgbClr val="010409"/>
                </a:solidFill>
                <a:highlight>
                  <a:srgbClr val="FFFFFF"/>
                </a:highlight>
              </a:rPr>
              <a:t> in the AI chat window.</a:t>
            </a:r>
            <a:endParaRPr sz="15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use this Workflow? (2 / 2)</a:t>
            </a:r>
            <a:endParaRPr/>
          </a:p>
        </p:txBody>
      </p:sp>
      <p:sp>
        <p:nvSpPr>
          <p:cNvPr id="236" name="Google Shape;236;p30"/>
          <p:cNvSpPr txBox="1"/>
          <p:nvPr>
            <p:ph idx="4294967295" type="title"/>
          </p:nvPr>
        </p:nvSpPr>
        <p:spPr>
          <a:xfrm>
            <a:off x="535775" y="1138450"/>
            <a:ext cx="8023800" cy="36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henever you complete important activities, or take a pause, or before closing VScode or shutting down your computer:</a:t>
            </a:r>
            <a:endParaRPr sz="16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Use 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the instruction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: </a:t>
            </a:r>
            <a:r>
              <a:rPr lang="en" sz="14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“checkpoint”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 - which updates all AI related tracking files.</a:t>
            </a:r>
            <a:endParaRPr sz="16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When you come back from pause, or may be a computer or VScode restart:</a:t>
            </a:r>
            <a:endParaRPr sz="16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○"/>
            </a:pP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Use the instruction: </a:t>
            </a:r>
            <a:r>
              <a:rPr lang="en" sz="14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“load context”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 or </a:t>
            </a:r>
            <a:r>
              <a:rPr lang="en" sz="14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“Where are we in this project?”</a:t>
            </a:r>
            <a:endParaRPr sz="1400">
              <a:solidFill>
                <a:srgbClr val="01040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●"/>
            </a:pP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Everything related to AI: context, progress, todo, session-states, etc, all live in the </a:t>
            </a:r>
            <a:r>
              <a:rPr lang="en" sz="14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“ai/”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 directory that is “git-ignored”. </a:t>
            </a:r>
            <a:endParaRPr sz="1600">
              <a:solidFill>
                <a:srgbClr val="01040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0409"/>
              </a:buClr>
              <a:buSzPts val="1600"/>
              <a:buChar char="○"/>
            </a:pP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If you lose it, you can rebuild it with </a:t>
            </a:r>
            <a:r>
              <a:rPr lang="en" sz="1400">
                <a:solidFill>
                  <a:srgbClr val="01040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“/init”</a:t>
            </a:r>
            <a:r>
              <a:rPr lang="en" sz="1600">
                <a:solidFill>
                  <a:srgbClr val="010409"/>
                </a:solidFill>
                <a:highlight>
                  <a:srgbClr val="FFFFFF"/>
                </a:highlight>
              </a:rPr>
              <a:t> again. </a:t>
            </a:r>
            <a:endParaRPr sz="1600">
              <a:solidFill>
                <a:srgbClr val="01040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initialize a repo with AI?</a:t>
            </a:r>
            <a:endParaRPr/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975" y="1097650"/>
            <a:ext cx="6381399" cy="37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add “To do” to AI ?</a:t>
            </a:r>
            <a:endParaRPr/>
          </a:p>
        </p:txBody>
      </p:sp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813" y="1097650"/>
            <a:ext cx="6375734" cy="374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7967775" y="1774300"/>
            <a:ext cx="910500" cy="697800"/>
          </a:xfrm>
          <a:prstGeom prst="wedgeRoundRectCallout">
            <a:avLst>
              <a:gd fmla="val -94522" name="adj1"/>
              <a:gd fmla="val -44286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 “to do” for AI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use git through AI?</a:t>
            </a: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463" y="970950"/>
            <a:ext cx="6387075" cy="374104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7967775" y="1774300"/>
            <a:ext cx="910500" cy="697800"/>
          </a:xfrm>
          <a:prstGeom prst="wedgeRoundRectCallout">
            <a:avLst>
              <a:gd fmla="val -83575" name="adj1"/>
              <a:gd fmla="val -64284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 git repo!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New git branch? No problem!</a:t>
            </a:r>
            <a:endParaRPr/>
          </a:p>
        </p:txBody>
      </p:sp>
      <p:pic>
        <p:nvPicPr>
          <p:cNvPr id="262" name="Google Shape;2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963" y="924420"/>
            <a:ext cx="6378074" cy="374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34"/>
          <p:cNvCxnSpPr/>
          <p:nvPr/>
        </p:nvCxnSpPr>
        <p:spPr>
          <a:xfrm flipH="1" rot="10800000">
            <a:off x="3070150" y="4452448"/>
            <a:ext cx="299100" cy="4053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4"/>
          <p:cNvSpPr/>
          <p:nvPr/>
        </p:nvSpPr>
        <p:spPr>
          <a:xfrm>
            <a:off x="8074100" y="604720"/>
            <a:ext cx="910500" cy="697800"/>
          </a:xfrm>
          <a:prstGeom prst="wedgeRoundRectCallout">
            <a:avLst>
              <a:gd fmla="val -80653" name="adj1"/>
              <a:gd fmla="val 89994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git branch through AI</a:t>
            </a:r>
            <a:endParaRPr sz="1000"/>
          </a:p>
        </p:txBody>
      </p:sp>
      <p:sp>
        <p:nvSpPr>
          <p:cNvPr id="265" name="Google Shape;265;p34"/>
          <p:cNvSpPr txBox="1"/>
          <p:nvPr/>
        </p:nvSpPr>
        <p:spPr>
          <a:xfrm>
            <a:off x="132900" y="4718195"/>
            <a:ext cx="8791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Notice: AI state is out-of-band from rest of the repository, so AI sees everything irrespective of the git branch you are on!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do checkpoint? (this is </a:t>
            </a:r>
            <a:r>
              <a:rPr b="1" i="1" lang="en" u="sng"/>
              <a:t>not </a:t>
            </a:r>
            <a:r>
              <a:rPr lang="en"/>
              <a:t>a git commit)</a:t>
            </a:r>
            <a:endParaRPr/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138" y="1044025"/>
            <a:ext cx="6375734" cy="374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/>
          <p:nvPr/>
        </p:nvSpPr>
        <p:spPr>
          <a:xfrm>
            <a:off x="8094025" y="1097650"/>
            <a:ext cx="910500" cy="697800"/>
          </a:xfrm>
          <a:prstGeom prst="wedgeRoundRectCallout">
            <a:avLst>
              <a:gd fmla="val -90870" name="adj1"/>
              <a:gd fmla="val 2982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checkpoint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How to Resume work?</a:t>
            </a:r>
            <a:endParaRPr/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963" y="1097650"/>
            <a:ext cx="6370077" cy="374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550" y="672750"/>
            <a:ext cx="3251500" cy="3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6"/>
          <p:cNvSpPr/>
          <p:nvPr/>
        </p:nvSpPr>
        <p:spPr>
          <a:xfrm>
            <a:off x="7967775" y="1774300"/>
            <a:ext cx="910500" cy="697800"/>
          </a:xfrm>
          <a:prstGeom prst="wedgeRoundRectCallout">
            <a:avLst>
              <a:gd fmla="val -92331" name="adj1"/>
              <a:gd fmla="val -100473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AI </a:t>
            </a:r>
            <a:r>
              <a:rPr lang="en" sz="1000"/>
              <a:t>Chat window expanded</a:t>
            </a:r>
            <a:endParaRPr sz="1000"/>
          </a:p>
        </p:txBody>
      </p:sp>
      <p:sp>
        <p:nvSpPr>
          <p:cNvPr id="281" name="Google Shape;281;p36"/>
          <p:cNvSpPr/>
          <p:nvPr/>
        </p:nvSpPr>
        <p:spPr>
          <a:xfrm>
            <a:off x="7967775" y="233900"/>
            <a:ext cx="910500" cy="697800"/>
          </a:xfrm>
          <a:prstGeom prst="wedgeRoundRectCallout">
            <a:avLst>
              <a:gd fmla="val -70437" name="adj1"/>
              <a:gd fmla="val 4313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“load context” is enough!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638" y="938050"/>
            <a:ext cx="6446725" cy="38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>
            <p:ph idx="4294967295" type="title"/>
          </p:nvPr>
        </p:nvSpPr>
        <p:spPr>
          <a:xfrm>
            <a:off x="535775" y="329650"/>
            <a:ext cx="78678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Background process when loading context:</a:t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>
            <a:off x="837325" y="1621450"/>
            <a:ext cx="358800" cy="137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7941200" y="453200"/>
            <a:ext cx="910500" cy="697800"/>
          </a:xfrm>
          <a:prstGeom prst="wedgeRoundRectCallout">
            <a:avLst>
              <a:gd fmla="val -70437" name="adj1"/>
              <a:gd fmla="val 4313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“load context”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SzPts val="990"/>
              <a:buNone/>
            </a:pPr>
            <a:r>
              <a:rPr lang="en" sz="2020"/>
              <a:t>Fun stuff: Evolution of </a:t>
            </a:r>
            <a:r>
              <a:rPr lang="en" sz="2020"/>
              <a:t>the</a:t>
            </a:r>
            <a:r>
              <a:rPr lang="en" sz="2020"/>
              <a:t> size of AI chat window as you become proficient! (</a:t>
            </a:r>
            <a:r>
              <a:rPr lang="en" sz="2020"/>
              <a:t>1 / 4</a:t>
            </a:r>
            <a:r>
              <a:rPr lang="en" sz="2020"/>
              <a:t>)</a:t>
            </a:r>
            <a:endParaRPr sz="2020"/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723" y="1097650"/>
            <a:ext cx="6613675" cy="389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8"/>
          <p:cNvSpPr/>
          <p:nvPr/>
        </p:nvSpPr>
        <p:spPr>
          <a:xfrm>
            <a:off x="7868100" y="2519900"/>
            <a:ext cx="910500" cy="697800"/>
          </a:xfrm>
          <a:prstGeom prst="wedgeRoundRectCallout">
            <a:avLst>
              <a:gd fmla="val -70437" name="adj1"/>
              <a:gd fmla="val 43139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Small window for AI chat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Fun stuff: Evolution of the size of AI chat window as you become proficient! (2 / 4)</a:t>
            </a:r>
            <a:endParaRPr sz="2000"/>
          </a:p>
        </p:txBody>
      </p:sp>
      <p:pic>
        <p:nvPicPr>
          <p:cNvPr id="302" name="Google Shape;3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539" y="1097650"/>
            <a:ext cx="6804563" cy="39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/>
          <p:nvPr/>
        </p:nvSpPr>
        <p:spPr>
          <a:xfrm>
            <a:off x="7981075" y="1873950"/>
            <a:ext cx="1029900" cy="990300"/>
          </a:xfrm>
          <a:prstGeom prst="wedgeRoundRectCallout">
            <a:avLst>
              <a:gd fmla="val -72585" name="adj1"/>
              <a:gd fmla="val 312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Trying to give more “respect” to AI chat window</a:t>
            </a:r>
            <a:endParaRPr sz="1000"/>
          </a:p>
        </p:txBody>
      </p:sp>
      <p:sp>
        <p:nvSpPr>
          <p:cNvPr id="304" name="Google Shape;304;p39"/>
          <p:cNvSpPr/>
          <p:nvPr/>
        </p:nvSpPr>
        <p:spPr>
          <a:xfrm>
            <a:off x="79750" y="1913850"/>
            <a:ext cx="937500" cy="2538600"/>
          </a:xfrm>
          <a:prstGeom prst="wedgeRoundRectCallout">
            <a:avLst>
              <a:gd fmla="val 108069" name="adj1"/>
              <a:gd fmla="val 27485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Whats the point of looking at code when I am not doing anything with it directly?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Why waste screen space?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800" y="1130425"/>
            <a:ext cx="6373762" cy="374104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Fun stuff: Evolution of the size of AI chat window as you become proficient! (3 / 4)</a:t>
            </a:r>
            <a:endParaRPr sz="2000"/>
          </a:p>
        </p:txBody>
      </p:sp>
      <p:sp>
        <p:nvSpPr>
          <p:cNvPr id="311" name="Google Shape;311;p40"/>
          <p:cNvSpPr/>
          <p:nvPr/>
        </p:nvSpPr>
        <p:spPr>
          <a:xfrm>
            <a:off x="7981075" y="1873950"/>
            <a:ext cx="1029900" cy="990300"/>
          </a:xfrm>
          <a:prstGeom prst="wedgeRoundRectCallout">
            <a:avLst>
              <a:gd fmla="val -110008" name="adj1"/>
              <a:gd fmla="val 4999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Why not just talk to my AI colleague in a full / maximized window!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388" y="1130450"/>
            <a:ext cx="6378074" cy="37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 txBox="1"/>
          <p:nvPr>
            <p:ph idx="4294967295" type="title"/>
          </p:nvPr>
        </p:nvSpPr>
        <p:spPr>
          <a:xfrm>
            <a:off x="535775" y="329650"/>
            <a:ext cx="786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Fun stuff: Evolution of the size of AI chat window as you become proficient! (4 / 4)</a:t>
            </a:r>
            <a:endParaRPr sz="2000"/>
          </a:p>
        </p:txBody>
      </p:sp>
      <p:sp>
        <p:nvSpPr>
          <p:cNvPr id="318" name="Google Shape;318;p41"/>
          <p:cNvSpPr/>
          <p:nvPr/>
        </p:nvSpPr>
        <p:spPr>
          <a:xfrm>
            <a:off x="7981075" y="1873950"/>
            <a:ext cx="1029900" cy="1123200"/>
          </a:xfrm>
          <a:prstGeom prst="wedgeRoundRectCallout">
            <a:avLst>
              <a:gd fmla="val -110654" name="adj1"/>
              <a:gd fmla="val -48654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Yes!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Go ahead!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( I am in heaven! )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idx="4294967295" type="title"/>
          </p:nvPr>
        </p:nvSpPr>
        <p:spPr>
          <a:xfrm>
            <a:off x="535775" y="329650"/>
            <a:ext cx="78678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Copilot users may (optionally) want to add this to VSCode file:</a:t>
            </a:r>
            <a:endParaRPr sz="16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{{VSCODE_USER_PROMPTS_FOLDER}}/init.instructions.md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673000" y="2011675"/>
            <a:ext cx="6649500" cy="274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description: Use when bootstrapping a new repository with /init. Always read AGENTS.md first as the single source of truth.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applyTo: "**"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# /init Bootstrap Guide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When running `/init`, always: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Read AGENTS.md first — it is the single source of truth for AI file locations and policy hierarchy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GitHub Copilot files must go under `ai/github-copilot/`, never workspace root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If policy conflicts with init task, STOP and ask for clarification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Do not create copilot-instructions.md, *.prompt.md, or other GitHub Copilot customizations in workspace root.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673000" y="1214298"/>
            <a:ext cx="6649500" cy="73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onsolas"/>
              <a:buChar char="●"/>
            </a:pPr>
            <a:r>
              <a:rPr b="1"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Linux: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~/.config/Code/User/prompts/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init.instructions.md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onsolas"/>
              <a:buChar char="●"/>
            </a:pPr>
            <a:r>
              <a:rPr b="1"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MacOS: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~/Library/Application Support/Code/User/prompts/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init.instructions.md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onsolas"/>
              <a:buChar char="●"/>
            </a:pPr>
            <a:r>
              <a:rPr b="1"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Windows:</a:t>
            </a:r>
            <a:r>
              <a:rPr lang="en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%USERPROFILE%\AppData\Roaming\Code\User\prompts\init.instructions.md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